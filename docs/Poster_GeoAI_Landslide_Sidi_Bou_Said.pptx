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embeddedFontLst>
    <p:embeddedFont>
      <p:font typeface="Amaranth" panose="020B0604020202020204" charset="0"/>
      <p:regular r:id="rId4"/>
      <p:bold r:id="rId5"/>
      <p:italic r:id="rId6"/>
      <p:boldItalic r:id="rId7"/>
    </p:embeddedFont>
    <p:embeddedFont>
      <p:font typeface="Titillium Web" panose="00000500000000000000" pitchFamily="2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412">
          <p15:clr>
            <a:srgbClr val="A4A3A4"/>
          </p15:clr>
        </p15:guide>
        <p15:guide id="2" pos="4944">
          <p15:clr>
            <a:srgbClr val="A4A3A4"/>
          </p15:clr>
        </p15:guide>
        <p15:guide id="3" orient="horz" pos="3268">
          <p15:clr>
            <a:srgbClr val="9AA0A6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4O3+TLgIvM1osRIpVG0ERLCxI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" y="-8604"/>
      </p:cViewPr>
      <p:guideLst>
        <p:guide orient="horz" pos="14412"/>
        <p:guide pos="4944"/>
        <p:guide orient="horz" pos="3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23" Type="http://schemas.openxmlformats.org/officeDocument/2006/relationships/tableStyles" Target="tableStyles.xml"/><Relationship Id="rId19" Type="http://customschemas.google.com/relationships/presentationmetadata" Target="meta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73341" y="685800"/>
            <a:ext cx="4311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63884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2552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513801" y="1714146"/>
            <a:ext cx="27248100" cy="7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1513801" y="9987606"/>
            <a:ext cx="27248100" cy="28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2270701" y="13296986"/>
            <a:ext cx="25734300" cy="9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4541399" y="24255600"/>
            <a:ext cx="21193200" cy="109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888888"/>
              </a:buClr>
              <a:buSzPts val="163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888888"/>
              </a:buClr>
              <a:buSzPts val="14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123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103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103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103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103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103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103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391596" y="27505536"/>
            <a:ext cx="25734300" cy="85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0"/>
              <a:buFont typeface="Calibri"/>
              <a:buNone/>
              <a:defRPr sz="20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391596" y="18142168"/>
            <a:ext cx="25734300" cy="9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10300"/>
              <a:buNone/>
              <a:defRPr sz="103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9000"/>
              <a:buNone/>
              <a:defRPr sz="9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8000"/>
              <a:buNone/>
              <a:defRPr sz="8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 sz="7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 sz="70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 sz="70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 sz="70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 sz="70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 sz="70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513801" y="1714146"/>
            <a:ext cx="27248100" cy="7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7264140" y="47936520"/>
            <a:ext cx="65145600" cy="135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lvl="0" indent="-1117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4000"/>
              <a:buChar char="•"/>
              <a:defRPr sz="14000"/>
            </a:lvl1pPr>
            <a:lvl2pPr marL="914400" lvl="1" indent="-100965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2300"/>
              <a:buChar char="–"/>
              <a:defRPr sz="12300"/>
            </a:lvl2pPr>
            <a:lvl3pPr marL="1371600" lvl="2" indent="-88265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Char char="•"/>
              <a:defRPr sz="10300"/>
            </a:lvl3pPr>
            <a:lvl4pPr marL="1828800" lvl="3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–"/>
              <a:defRPr sz="9000"/>
            </a:lvl4pPr>
            <a:lvl5pPr marL="2286000" lvl="4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»"/>
              <a:defRPr sz="9000"/>
            </a:lvl5pPr>
            <a:lvl6pPr marL="2743200" lvl="5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6pPr>
            <a:lvl7pPr marL="3200400" lvl="6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7pPr>
            <a:lvl8pPr marL="3657600" lvl="7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8pPr>
            <a:lvl9pPr marL="4114800" lvl="8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72914706" y="47936520"/>
            <a:ext cx="65145600" cy="135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lvl="0" indent="-1117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4000"/>
              <a:buChar char="•"/>
              <a:defRPr sz="14000"/>
            </a:lvl1pPr>
            <a:lvl2pPr marL="914400" lvl="1" indent="-100965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2300"/>
              <a:buChar char="–"/>
              <a:defRPr sz="12300"/>
            </a:lvl2pPr>
            <a:lvl3pPr marL="1371600" lvl="2" indent="-88265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Char char="•"/>
              <a:defRPr sz="10300"/>
            </a:lvl3pPr>
            <a:lvl4pPr marL="1828800" lvl="3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–"/>
              <a:defRPr sz="9000"/>
            </a:lvl4pPr>
            <a:lvl5pPr marL="2286000" lvl="4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»"/>
              <a:defRPr sz="9000"/>
            </a:lvl5pPr>
            <a:lvl6pPr marL="2743200" lvl="5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6pPr>
            <a:lvl7pPr marL="3200400" lvl="6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7pPr>
            <a:lvl8pPr marL="3657600" lvl="7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8pPr>
            <a:lvl9pPr marL="4114800" lvl="8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513801" y="1714146"/>
            <a:ext cx="27248100" cy="7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513801" y="9581365"/>
            <a:ext cx="13377300" cy="3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2300"/>
              <a:buNone/>
              <a:defRPr sz="12300" b="1"/>
            </a:lvl1pPr>
            <a:lvl2pPr marL="914400" lvl="1" indent="-228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None/>
              <a:defRPr sz="10300" b="1"/>
            </a:lvl2pPr>
            <a:lvl3pPr marL="1371600" lvl="2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 b="1"/>
            </a:lvl3pPr>
            <a:lvl4pPr marL="1828800" lvl="3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4pPr>
            <a:lvl5pPr marL="2286000" lvl="4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5pPr>
            <a:lvl6pPr marL="2743200" lvl="5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6pPr>
            <a:lvl7pPr marL="3200400" lvl="6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7pPr>
            <a:lvl8pPr marL="3657600" lvl="7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8pPr>
            <a:lvl9pPr marL="4114800" lvl="8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513801" y="13574420"/>
            <a:ext cx="13377300" cy="24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lvl="0" indent="-100965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2300"/>
              <a:buChar char="•"/>
              <a:defRPr sz="12300"/>
            </a:lvl1pPr>
            <a:lvl2pPr marL="914400" lvl="1" indent="-88265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Char char="–"/>
              <a:defRPr sz="10300"/>
            </a:lvl2pPr>
            <a:lvl3pPr marL="1371600" lvl="2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3pPr>
            <a:lvl4pPr marL="1828800" lvl="3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–"/>
              <a:defRPr sz="8000"/>
            </a:lvl4pPr>
            <a:lvl5pPr marL="2286000" lvl="4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»"/>
              <a:defRPr sz="8000"/>
            </a:lvl5pPr>
            <a:lvl6pPr marL="2743200" lvl="5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6pPr>
            <a:lvl7pPr marL="3200400" lvl="6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7pPr>
            <a:lvl8pPr marL="3657600" lvl="7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8pPr>
            <a:lvl9pPr marL="4114800" lvl="8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5379788" y="9581365"/>
            <a:ext cx="13382400" cy="3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2300"/>
              <a:buNone/>
              <a:defRPr sz="12300" b="1"/>
            </a:lvl1pPr>
            <a:lvl2pPr marL="914400" lvl="1" indent="-228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None/>
              <a:defRPr sz="10300" b="1"/>
            </a:lvl2pPr>
            <a:lvl3pPr marL="1371600" lvl="2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 b="1"/>
            </a:lvl3pPr>
            <a:lvl4pPr marL="1828800" lvl="3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4pPr>
            <a:lvl5pPr marL="2286000" lvl="4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5pPr>
            <a:lvl6pPr marL="2743200" lvl="5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6pPr>
            <a:lvl7pPr marL="3200400" lvl="6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7pPr>
            <a:lvl8pPr marL="3657600" lvl="7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8pPr>
            <a:lvl9pPr marL="4114800" lvl="8" indent="-228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5379788" y="13574420"/>
            <a:ext cx="13382400" cy="24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lvl="0" indent="-100965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2300"/>
              <a:buChar char="•"/>
              <a:defRPr sz="12300"/>
            </a:lvl1pPr>
            <a:lvl2pPr marL="914400" lvl="1" indent="-88265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Char char="–"/>
              <a:defRPr sz="10300"/>
            </a:lvl2pPr>
            <a:lvl3pPr marL="1371600" lvl="2" indent="-8001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9000"/>
              <a:buChar char="•"/>
              <a:defRPr sz="9000"/>
            </a:lvl3pPr>
            <a:lvl4pPr marL="1828800" lvl="3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–"/>
              <a:defRPr sz="8000"/>
            </a:lvl4pPr>
            <a:lvl5pPr marL="2286000" lvl="4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»"/>
              <a:defRPr sz="8000"/>
            </a:lvl5pPr>
            <a:lvl6pPr marL="2743200" lvl="5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6pPr>
            <a:lvl7pPr marL="3200400" lvl="6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7pPr>
            <a:lvl8pPr marL="3657600" lvl="7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8pPr>
            <a:lvl9pPr marL="4114800" lvl="8" indent="-736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513801" y="1714146"/>
            <a:ext cx="27248100" cy="7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513804" y="1704233"/>
            <a:ext cx="9960300" cy="72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Calibri"/>
              <a:buNone/>
              <a:defRPr sz="10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1837076" y="1704239"/>
            <a:ext cx="16925400" cy="36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lvl="0" indent="-126365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chemeClr val="dk1"/>
              </a:buClr>
              <a:buSzPts val="16300"/>
              <a:buChar char="•"/>
              <a:defRPr sz="16300"/>
            </a:lvl1pPr>
            <a:lvl2pPr marL="914400" lvl="1" indent="-1117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4000"/>
              <a:buChar char="–"/>
              <a:defRPr sz="14000"/>
            </a:lvl2pPr>
            <a:lvl3pPr marL="1371600" lvl="2" indent="-100965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2300"/>
              <a:buChar char="•"/>
              <a:defRPr sz="12300"/>
            </a:lvl3pPr>
            <a:lvl4pPr marL="1828800" lvl="3" indent="-88265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Char char="–"/>
              <a:defRPr sz="10300"/>
            </a:lvl4pPr>
            <a:lvl5pPr marL="2286000" lvl="4" indent="-88265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Char char="»"/>
              <a:defRPr sz="10300"/>
            </a:lvl5pPr>
            <a:lvl6pPr marL="2743200" lvl="5" indent="-88265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Char char="•"/>
              <a:defRPr sz="10300"/>
            </a:lvl6pPr>
            <a:lvl7pPr marL="3200400" lvl="6" indent="-88265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Char char="•"/>
              <a:defRPr sz="10300"/>
            </a:lvl7pPr>
            <a:lvl8pPr marL="3657600" lvl="7" indent="-88265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Char char="•"/>
              <a:defRPr sz="10300"/>
            </a:lvl8pPr>
            <a:lvl9pPr marL="4114800" lvl="8" indent="-88265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Char char="•"/>
              <a:defRPr sz="103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513804" y="8957136"/>
            <a:ext cx="9960300" cy="292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sz="7000"/>
            </a:lvl1pPr>
            <a:lvl2pPr marL="914400" lvl="1" indent="-228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5934308" y="29962803"/>
            <a:ext cx="18165600" cy="3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Calibri"/>
              <a:buNone/>
              <a:defRPr sz="103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5934308" y="3824617"/>
            <a:ext cx="18165600" cy="25682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5934308" y="33500082"/>
            <a:ext cx="18165600" cy="50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sz="7000"/>
            </a:lvl1pPr>
            <a:lvl2pPr marL="914400" lvl="1" indent="-228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513801" y="1714146"/>
            <a:ext cx="27248100" cy="7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1014002" y="10487706"/>
            <a:ext cx="28248300" cy="27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34056963" y="79528217"/>
            <a:ext cx="175308000" cy="326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31593562" y="47081417"/>
            <a:ext cx="175308000" cy="975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513801" y="1714146"/>
            <a:ext cx="27248100" cy="7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0"/>
              <a:buFont typeface="Calibri"/>
              <a:buNone/>
              <a:defRPr sz="2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513801" y="9987606"/>
            <a:ext cx="27248100" cy="28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t" anchorCtr="0">
            <a:normAutofit/>
          </a:bodyPr>
          <a:lstStyle>
            <a:lvl1pPr marL="457200" marR="0" lvl="0" indent="-1263650" algn="l" rtl="0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chemeClr val="dk1"/>
              </a:buClr>
              <a:buSzPts val="16300"/>
              <a:buFont typeface="Arial"/>
              <a:buChar char="•"/>
              <a:defRPr sz="16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11176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4000"/>
              <a:buFont typeface="Arial"/>
              <a:buChar char="–"/>
              <a:defRPr sz="1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100965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2300"/>
              <a:buFont typeface="Arial"/>
              <a:buChar char="•"/>
              <a:defRPr sz="1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8826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–"/>
              <a:defRPr sz="10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8826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»"/>
              <a:defRPr sz="10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8826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•"/>
              <a:defRPr sz="10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8826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•"/>
              <a:defRPr sz="10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8826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•"/>
              <a:defRPr sz="10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8826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•"/>
              <a:defRPr sz="10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513801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344299" y="39672970"/>
            <a:ext cx="95877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1697799" y="39672970"/>
            <a:ext cx="70644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00" tIns="309850" rIns="619700" bIns="309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5400000">
            <a:off x="-7815828" y="26081867"/>
            <a:ext cx="6584844" cy="181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5400000">
            <a:off x="31506983" y="18745505"/>
            <a:ext cx="6584844" cy="181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349104" y="43299417"/>
            <a:ext cx="13831688" cy="67371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1349104" y="43856760"/>
            <a:ext cx="151383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000" tIns="50550" rIns="101000" bIns="50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Template ID: ruminativemauve  Size: 36x48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7560000" y="324000"/>
            <a:ext cx="15120000" cy="23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7000"/>
              <a:buFont typeface="Amaranth"/>
              <a:buNone/>
            </a:pPr>
            <a:r>
              <a:rPr lang="en-US" sz="6600" b="1" i="0" u="none" strike="noStrike" cap="none" dirty="0">
                <a:solidFill>
                  <a:srgbClr val="492368"/>
                </a:solidFill>
                <a:latin typeface="Amaranth"/>
                <a:ea typeface="Amaranth"/>
                <a:cs typeface="Amaranth"/>
                <a:sym typeface="Amaranth"/>
              </a:rPr>
              <a:t>GeoAI-Based Landslide and Slope-Failure Risk Mapping</a:t>
            </a:r>
            <a:endParaRPr sz="1700" b="1" i="0" u="none" strike="noStrike" cap="none" dirty="0">
              <a:solidFill>
                <a:srgbClr val="492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160000" y="2988000"/>
            <a:ext cx="25920000" cy="2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40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A Per-Building Risk Assessment for the Sidi Bou Said Hillside, Tunisia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Directed by : Zeineb Sinini  |  AGI Internship, Tunis  |  08/01/2026 – 09/01/2026</a:t>
            </a:r>
          </a:p>
        </p:txBody>
      </p:sp>
      <p:grpSp>
        <p:nvGrpSpPr>
          <p:cNvPr id="90" name="Google Shape;90;p1"/>
          <p:cNvGrpSpPr/>
          <p:nvPr/>
        </p:nvGrpSpPr>
        <p:grpSpPr>
          <a:xfrm>
            <a:off x="15531607" y="20700154"/>
            <a:ext cx="14265874" cy="9903041"/>
            <a:chOff x="11477614" y="16029729"/>
            <a:chExt cx="10306968" cy="16677402"/>
          </a:xfrm>
        </p:grpSpPr>
        <p:sp>
          <p:nvSpPr>
            <p:cNvPr id="91" name="Google Shape;91;p1"/>
            <p:cNvSpPr/>
            <p:nvPr/>
          </p:nvSpPr>
          <p:spPr>
            <a:xfrm>
              <a:off x="11762041" y="16420742"/>
              <a:ext cx="10022541" cy="16286389"/>
            </a:xfrm>
            <a:prstGeom prst="rect">
              <a:avLst/>
            </a:prstGeom>
            <a:solidFill>
              <a:srgbClr val="AA49FB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11477614" y="16029729"/>
              <a:ext cx="9978583" cy="16135990"/>
            </a:xfrm>
            <a:prstGeom prst="rect">
              <a:avLst/>
            </a:prstGeom>
            <a:solidFill>
              <a:srgbClr val="F8E6D0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423055" y="15768169"/>
            <a:ext cx="14182475" cy="11122463"/>
            <a:chOff x="685799" y="16029729"/>
            <a:chExt cx="10296555" cy="16431471"/>
          </a:xfrm>
        </p:grpSpPr>
        <p:sp>
          <p:nvSpPr>
            <p:cNvPr id="94" name="Google Shape;94;p1"/>
            <p:cNvSpPr/>
            <p:nvPr/>
          </p:nvSpPr>
          <p:spPr>
            <a:xfrm>
              <a:off x="959813" y="16420740"/>
              <a:ext cx="10022541" cy="16040460"/>
            </a:xfrm>
            <a:prstGeom prst="rect">
              <a:avLst/>
            </a:prstGeom>
            <a:solidFill>
              <a:srgbClr val="AA49FB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685799" y="16029729"/>
              <a:ext cx="9978583" cy="16135990"/>
            </a:xfrm>
            <a:prstGeom prst="rect">
              <a:avLst/>
            </a:prstGeom>
            <a:solidFill>
              <a:srgbClr val="F8E6D0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724297" y="5775617"/>
            <a:ext cx="14182354" cy="9943042"/>
            <a:chOff x="685801" y="5445691"/>
            <a:chExt cx="21675613" cy="9961970"/>
          </a:xfrm>
        </p:grpSpPr>
        <p:sp>
          <p:nvSpPr>
            <p:cNvPr id="97" name="Google Shape;97;p1"/>
            <p:cNvSpPr/>
            <p:nvPr/>
          </p:nvSpPr>
          <p:spPr>
            <a:xfrm>
              <a:off x="959813" y="5752283"/>
              <a:ext cx="21401601" cy="9655378"/>
            </a:xfrm>
            <a:prstGeom prst="rect">
              <a:avLst/>
            </a:prstGeom>
            <a:solidFill>
              <a:srgbClr val="AA49FB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685801" y="5445691"/>
              <a:ext cx="21006239" cy="9655378"/>
            </a:xfrm>
            <a:prstGeom prst="rect">
              <a:avLst/>
            </a:prstGeom>
            <a:solidFill>
              <a:srgbClr val="FDC52D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/>
          <p:nvPr/>
        </p:nvSpPr>
        <p:spPr>
          <a:xfrm>
            <a:off x="704493" y="6058626"/>
            <a:ext cx="11390100" cy="669000"/>
          </a:xfrm>
          <a:prstGeom prst="rect">
            <a:avLst/>
          </a:prstGeom>
          <a:solidFill>
            <a:srgbClr val="F8E6D0"/>
          </a:solidFill>
          <a:ln>
            <a:noFill/>
          </a:ln>
        </p:spPr>
        <p:txBody>
          <a:bodyPr spcFirstLastPara="1" wrap="square" lIns="227350" tIns="50550" rIns="227350" bIns="50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492368"/>
                </a:solidFill>
                <a:latin typeface="Amaranth"/>
                <a:ea typeface="Amaranth"/>
                <a:cs typeface="Amaranth"/>
                <a:sym typeface="Amaranth"/>
              </a:rPr>
              <a:t>Context &amp; Motivation</a:t>
            </a:r>
            <a:endParaRPr sz="1700" b="0" i="0" u="none" strike="noStrike" cap="none" dirty="0">
              <a:solidFill>
                <a:srgbClr val="492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796203" y="16414841"/>
            <a:ext cx="11387400" cy="819300"/>
          </a:xfrm>
          <a:prstGeom prst="rect">
            <a:avLst/>
          </a:prstGeom>
          <a:solidFill>
            <a:srgbClr val="AA49FB"/>
          </a:solidFill>
          <a:ln>
            <a:noFill/>
          </a:ln>
        </p:spPr>
        <p:txBody>
          <a:bodyPr spcFirstLastPara="1" wrap="square" lIns="227350" tIns="50550" rIns="227350" bIns="50550" anchor="ctr" anchorCtr="0">
            <a:noAutofit/>
          </a:bodyPr>
          <a:lstStyle/>
          <a:p>
            <a:pPr lvl="0"/>
            <a:r>
              <a:rPr lang="en-US" sz="400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Methodology: Evidence-Based Pipeline</a:t>
            </a:r>
            <a:endParaRPr sz="1700" b="0" i="0" u="none" strike="noStrike" cap="none" dirty="0">
              <a:solidFill>
                <a:srgbClr val="F8E6D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1"/>
          <p:cNvGrpSpPr/>
          <p:nvPr/>
        </p:nvGrpSpPr>
        <p:grpSpPr>
          <a:xfrm>
            <a:off x="724297" y="35263937"/>
            <a:ext cx="14263961" cy="6701417"/>
            <a:chOff x="685801" y="5445691"/>
            <a:chExt cx="21697537" cy="9961970"/>
          </a:xfrm>
        </p:grpSpPr>
        <p:sp>
          <p:nvSpPr>
            <p:cNvPr id="104" name="Google Shape;104;p1"/>
            <p:cNvSpPr/>
            <p:nvPr/>
          </p:nvSpPr>
          <p:spPr>
            <a:xfrm>
              <a:off x="959813" y="5752284"/>
              <a:ext cx="21423525" cy="9655377"/>
            </a:xfrm>
            <a:prstGeom prst="rect">
              <a:avLst/>
            </a:prstGeom>
            <a:solidFill>
              <a:srgbClr val="AA49FB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685801" y="5445691"/>
              <a:ext cx="21006242" cy="9370810"/>
            </a:xfrm>
            <a:prstGeom prst="rect">
              <a:avLst/>
            </a:prstGeom>
            <a:solidFill>
              <a:srgbClr val="492368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"/>
          <p:cNvSpPr/>
          <p:nvPr/>
        </p:nvSpPr>
        <p:spPr>
          <a:xfrm>
            <a:off x="15531607" y="20898910"/>
            <a:ext cx="13630500" cy="1020600"/>
          </a:xfrm>
          <a:prstGeom prst="rect">
            <a:avLst/>
          </a:prstGeom>
          <a:solidFill>
            <a:srgbClr val="AA49FB"/>
          </a:solidFill>
          <a:ln>
            <a:noFill/>
          </a:ln>
        </p:spPr>
        <p:txBody>
          <a:bodyPr spcFirstLastPara="1" wrap="square" lIns="227350" tIns="50550" rIns="227350" bIns="50550" anchor="ctr" anchorCtr="0">
            <a:noAutofit/>
          </a:bodyPr>
          <a:lstStyle/>
          <a:p>
            <a:pPr lvl="0">
              <a:buSzPts val="4000"/>
            </a:pPr>
            <a:r>
              <a:rPr lang="en-US" sz="400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Results: Per-Building Risk Map</a:t>
            </a:r>
            <a:endParaRPr sz="4000" b="0" i="0" u="none" strike="noStrike" cap="none" dirty="0">
              <a:solidFill>
                <a:srgbClr val="F8E6D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1"/>
          <p:cNvGrpSpPr/>
          <p:nvPr/>
        </p:nvGrpSpPr>
        <p:grpSpPr>
          <a:xfrm>
            <a:off x="15700252" y="5648286"/>
            <a:ext cx="14265927" cy="9943164"/>
            <a:chOff x="685801" y="5445691"/>
            <a:chExt cx="21575812" cy="9962092"/>
          </a:xfrm>
        </p:grpSpPr>
        <p:sp>
          <p:nvSpPr>
            <p:cNvPr id="108" name="Google Shape;108;p1"/>
            <p:cNvSpPr/>
            <p:nvPr/>
          </p:nvSpPr>
          <p:spPr>
            <a:xfrm>
              <a:off x="959813" y="5752283"/>
              <a:ext cx="21301800" cy="9655500"/>
            </a:xfrm>
            <a:prstGeom prst="rect">
              <a:avLst/>
            </a:prstGeom>
            <a:solidFill>
              <a:srgbClr val="AA49FB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685801" y="5445691"/>
              <a:ext cx="20770500" cy="9655500"/>
            </a:xfrm>
            <a:prstGeom prst="rect">
              <a:avLst/>
            </a:prstGeom>
            <a:solidFill>
              <a:srgbClr val="F8E6D0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"/>
          <p:cNvSpPr/>
          <p:nvPr/>
        </p:nvSpPr>
        <p:spPr>
          <a:xfrm>
            <a:off x="15700468" y="5960720"/>
            <a:ext cx="11390100" cy="669000"/>
          </a:xfrm>
          <a:prstGeom prst="rect">
            <a:avLst/>
          </a:prstGeom>
          <a:solidFill>
            <a:srgbClr val="AA49FB"/>
          </a:solidFill>
          <a:ln>
            <a:noFill/>
          </a:ln>
        </p:spPr>
        <p:txBody>
          <a:bodyPr spcFirstLastPara="1" wrap="square" lIns="227350" tIns="50550" rIns="227350" bIns="50550" anchor="ctr" anchorCtr="0">
            <a:noAutofit/>
          </a:bodyPr>
          <a:lstStyle/>
          <a:p>
            <a:pPr lvl="0"/>
            <a:r>
              <a:rPr lang="en-US" sz="400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Study Area &amp; Key Event: Storm Harry</a:t>
            </a:r>
            <a:endParaRPr sz="1700" b="0" i="0" u="none" strike="noStrike" cap="none" dirty="0">
              <a:solidFill>
                <a:srgbClr val="F8E6D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1"/>
          <p:cNvGrpSpPr/>
          <p:nvPr/>
        </p:nvGrpSpPr>
        <p:grpSpPr>
          <a:xfrm>
            <a:off x="15613752" y="16177443"/>
            <a:ext cx="14183729" cy="4224924"/>
            <a:chOff x="685800" y="5445691"/>
            <a:chExt cx="21697613" cy="9962093"/>
          </a:xfrm>
        </p:grpSpPr>
        <p:sp>
          <p:nvSpPr>
            <p:cNvPr id="113" name="Google Shape;113;p1"/>
            <p:cNvSpPr/>
            <p:nvPr/>
          </p:nvSpPr>
          <p:spPr>
            <a:xfrm>
              <a:off x="959813" y="5752284"/>
              <a:ext cx="21423600" cy="9655500"/>
            </a:xfrm>
            <a:prstGeom prst="rect">
              <a:avLst/>
            </a:prstGeom>
            <a:solidFill>
              <a:srgbClr val="AA49FB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685800" y="5445691"/>
              <a:ext cx="21006297" cy="9370801"/>
            </a:xfrm>
            <a:prstGeom prst="rect">
              <a:avLst/>
            </a:prstGeom>
            <a:solidFill>
              <a:srgbClr val="F8E6D0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3600" b="0" i="0" u="none" strike="noStrike" cap="none" dirty="0">
                <a:solidFill>
                  <a:srgbClr val="5F497A"/>
                </a:solidFill>
                <a:latin typeface="Amaranth"/>
                <a:ea typeface="Amaranth"/>
                <a:cs typeface="Amaranth"/>
                <a:sym typeface="Amaranth"/>
              </a:endParaRPr>
            </a:p>
          </p:txBody>
        </p:sp>
      </p:grpSp>
      <p:sp>
        <p:nvSpPr>
          <p:cNvPr id="115" name="Google Shape;115;p1"/>
          <p:cNvSpPr/>
          <p:nvPr/>
        </p:nvSpPr>
        <p:spPr>
          <a:xfrm>
            <a:off x="15613752" y="16411057"/>
            <a:ext cx="11390100" cy="669000"/>
          </a:xfrm>
          <a:prstGeom prst="rect">
            <a:avLst/>
          </a:prstGeom>
          <a:solidFill>
            <a:srgbClr val="AA49FB"/>
          </a:solidFill>
          <a:ln>
            <a:noFill/>
          </a:ln>
        </p:spPr>
        <p:txBody>
          <a:bodyPr spcFirstLastPara="1" wrap="square" lIns="227350" tIns="50550" rIns="227350" bIns="50550" anchor="ctr" anchorCtr="0">
            <a:noAutofit/>
          </a:bodyPr>
          <a:lstStyle/>
          <a:p>
            <a:pPr lvl="0">
              <a:buSzPts val="4000"/>
            </a:pPr>
            <a:r>
              <a:rPr lang="en-US" sz="400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Susceptibility Modeling</a:t>
            </a:r>
            <a:endParaRPr sz="1700" b="0" i="0" u="none" strike="noStrike" cap="none" dirty="0">
              <a:solidFill>
                <a:srgbClr val="F8E6D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1"/>
          <p:cNvGrpSpPr/>
          <p:nvPr/>
        </p:nvGrpSpPr>
        <p:grpSpPr>
          <a:xfrm>
            <a:off x="15551857" y="30182026"/>
            <a:ext cx="14245624" cy="7325126"/>
            <a:chOff x="685801" y="5445691"/>
            <a:chExt cx="21575812" cy="9962092"/>
          </a:xfrm>
        </p:grpSpPr>
        <p:sp>
          <p:nvSpPr>
            <p:cNvPr id="117" name="Google Shape;117;p1"/>
            <p:cNvSpPr/>
            <p:nvPr/>
          </p:nvSpPr>
          <p:spPr>
            <a:xfrm>
              <a:off x="959813" y="5752283"/>
              <a:ext cx="21301800" cy="9655500"/>
            </a:xfrm>
            <a:prstGeom prst="rect">
              <a:avLst/>
            </a:prstGeom>
            <a:solidFill>
              <a:srgbClr val="AA49FB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685801" y="5445691"/>
              <a:ext cx="20770500" cy="9655500"/>
            </a:xfrm>
            <a:prstGeom prst="rect">
              <a:avLst/>
            </a:prstGeom>
            <a:solidFill>
              <a:srgbClr val="F8E6D0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1"/>
          <p:cNvSpPr/>
          <p:nvPr/>
        </p:nvSpPr>
        <p:spPr>
          <a:xfrm>
            <a:off x="658722" y="35612084"/>
            <a:ext cx="8505000" cy="669000"/>
          </a:xfrm>
          <a:prstGeom prst="rect">
            <a:avLst/>
          </a:prstGeom>
          <a:solidFill>
            <a:srgbClr val="F8E6D0"/>
          </a:solidFill>
          <a:ln>
            <a:noFill/>
          </a:ln>
        </p:spPr>
        <p:txBody>
          <a:bodyPr spcFirstLastPara="1" wrap="square" lIns="227350" tIns="50550" rIns="227350" bIns="50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492368"/>
                </a:solidFill>
                <a:latin typeface="Amaranth"/>
                <a:ea typeface="Amaranth"/>
                <a:cs typeface="Amaranth"/>
                <a:sym typeface="Amaranth"/>
              </a:rPr>
              <a:t>Future works </a:t>
            </a:r>
            <a:endParaRPr sz="1700" b="0" i="0" u="none" strike="noStrike" cap="none" dirty="0">
              <a:solidFill>
                <a:srgbClr val="492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5368" y="27862045"/>
            <a:ext cx="14263769" cy="6701499"/>
            <a:chOff x="685802" y="5445691"/>
            <a:chExt cx="21575811" cy="9962092"/>
          </a:xfrm>
        </p:grpSpPr>
        <p:sp>
          <p:nvSpPr>
            <p:cNvPr id="124" name="Google Shape;124;p1"/>
            <p:cNvSpPr/>
            <p:nvPr/>
          </p:nvSpPr>
          <p:spPr>
            <a:xfrm>
              <a:off x="959813" y="5752283"/>
              <a:ext cx="21301800" cy="9655500"/>
            </a:xfrm>
            <a:prstGeom prst="rect">
              <a:avLst/>
            </a:prstGeom>
            <a:solidFill>
              <a:srgbClr val="AA49FB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685802" y="5445691"/>
              <a:ext cx="20770499" cy="9655501"/>
            </a:xfrm>
            <a:prstGeom prst="rect">
              <a:avLst/>
            </a:prstGeom>
            <a:solidFill>
              <a:srgbClr val="F8E6D0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/>
          <p:nvPr/>
        </p:nvSpPr>
        <p:spPr>
          <a:xfrm>
            <a:off x="649321" y="28262096"/>
            <a:ext cx="13120200" cy="611100"/>
          </a:xfrm>
          <a:prstGeom prst="rect">
            <a:avLst/>
          </a:prstGeom>
          <a:solidFill>
            <a:srgbClr val="AA49FB"/>
          </a:solidFill>
          <a:ln>
            <a:noFill/>
          </a:ln>
        </p:spPr>
        <p:txBody>
          <a:bodyPr spcFirstLastPara="1" wrap="square" lIns="227350" tIns="50550" rIns="227350" bIns="50550" anchor="ctr" anchorCtr="0">
            <a:noAutofit/>
          </a:bodyPr>
          <a:lstStyle/>
          <a:p>
            <a:pPr lvl="0">
              <a:buSzPts val="4000"/>
            </a:pPr>
            <a:r>
              <a:rPr lang="en-US" sz="400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Validation &amp; Limitations</a:t>
            </a:r>
            <a:endParaRPr sz="1700" b="0" i="0" u="none" strike="noStrike" cap="none" dirty="0">
              <a:solidFill>
                <a:srgbClr val="F8E6D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1"/>
          <p:cNvGrpSpPr/>
          <p:nvPr/>
        </p:nvGrpSpPr>
        <p:grpSpPr>
          <a:xfrm>
            <a:off x="15298390" y="37728962"/>
            <a:ext cx="14153249" cy="4224924"/>
            <a:chOff x="506466" y="5445691"/>
            <a:chExt cx="21650988" cy="9962093"/>
          </a:xfrm>
        </p:grpSpPr>
        <p:sp>
          <p:nvSpPr>
            <p:cNvPr id="129" name="Google Shape;129;p1"/>
            <p:cNvSpPr/>
            <p:nvPr/>
          </p:nvSpPr>
          <p:spPr>
            <a:xfrm>
              <a:off x="733855" y="5752284"/>
              <a:ext cx="21423599" cy="9655500"/>
            </a:xfrm>
            <a:prstGeom prst="rect">
              <a:avLst/>
            </a:prstGeom>
            <a:solidFill>
              <a:srgbClr val="AA49FB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506466" y="5445691"/>
              <a:ext cx="21006300" cy="9370801"/>
            </a:xfrm>
            <a:prstGeom prst="rect">
              <a:avLst/>
            </a:prstGeom>
            <a:solidFill>
              <a:srgbClr val="FDC52D"/>
            </a:solidFill>
            <a:ln>
              <a:noFill/>
            </a:ln>
          </p:spPr>
          <p:txBody>
            <a:bodyPr spcFirstLastPara="1" wrap="square" lIns="101000" tIns="50550" rIns="101000" bIns="50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endParaRPr sz="9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"/>
          <p:cNvSpPr/>
          <p:nvPr/>
        </p:nvSpPr>
        <p:spPr>
          <a:xfrm>
            <a:off x="15198281" y="37945646"/>
            <a:ext cx="11390100" cy="669000"/>
          </a:xfrm>
          <a:prstGeom prst="rect">
            <a:avLst/>
          </a:prstGeom>
          <a:solidFill>
            <a:srgbClr val="F8E6D0"/>
          </a:solidFill>
          <a:ln>
            <a:noFill/>
          </a:ln>
        </p:spPr>
        <p:txBody>
          <a:bodyPr spcFirstLastPara="1" wrap="square" lIns="227350" tIns="50550" rIns="227350" bIns="50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492368"/>
                </a:solidFill>
                <a:latin typeface="Amaranth"/>
                <a:ea typeface="Amaranth"/>
                <a:cs typeface="Amaranth"/>
                <a:sym typeface="Amaranth"/>
              </a:rPr>
              <a:t>Acknowledgment</a:t>
            </a:r>
            <a:endParaRPr sz="1700" b="0" i="0" u="none" strike="noStrike" cap="none" dirty="0">
              <a:solidFill>
                <a:srgbClr val="492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635" y="1278561"/>
            <a:ext cx="6613175" cy="1549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AGI logo" descr="Association of Geospatial Intelligence (AGI)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20000" y="720000"/>
            <a:ext cx="5400000" cy="2315385"/>
          </a:xfrm>
          <a:prstGeom prst="rect">
            <a:avLst/>
          </a:prstGeom>
        </p:spPr>
      </p:pic>
      <p:sp>
        <p:nvSpPr>
          <p:cNvPr id="302" name="Context body"/>
          <p:cNvSpPr txBox="1"/>
          <p:nvPr/>
        </p:nvSpPr>
        <p:spPr>
          <a:xfrm>
            <a:off x="1152000" y="7056000"/>
            <a:ext cx="12960000" cy="6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Landslides threaten hilly coastal areas, where rain-induced instability can endanger buildings with little warning. Mapping risk per building, not per slope, shows which structures need monitoring or intervention.</a:t>
            </a: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Case study: the Sidi Bou Said hillside, Tunisia, struck by Storm Harry (January 2026), with no formal regional landslide inventory available.</a:t>
            </a: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Goal: a single per-building risk product that combines static susceptibility, rainfall and ground-deformation evidence, and exposure and vulnerability.</a:t>
            </a:r>
          </a:p>
        </p:txBody>
      </p:sp>
      <p:sp>
        <p:nvSpPr>
          <p:cNvPr id="303" name="Risk equation"/>
          <p:cNvSpPr txBox="1"/>
          <p:nvPr/>
        </p:nvSpPr>
        <p:spPr>
          <a:xfrm>
            <a:off x="1152000" y="13824000"/>
            <a:ext cx="12960000" cy="1152000"/>
          </a:xfrm>
          <a:prstGeom prst="rect">
            <a:avLst/>
          </a:prstGeom>
          <a:solidFill>
            <a:srgbClr val="F8E6D0"/>
          </a:solidFill>
          <a:ln>
            <a:noFill/>
          </a:ln>
        </p:spPr>
        <p:txBody>
          <a:bodyPr wrap="square" lIns="108000" tIns="108000" rIns="108000" bIns="108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Risk = Hazard × Exposure × Vulnerability</a:t>
            </a:r>
          </a:p>
        </p:txBody>
      </p:sp>
      <p:sp>
        <p:nvSpPr>
          <p:cNvPr id="304" name="Storm body"/>
          <p:cNvSpPr txBox="1"/>
          <p:nvPr/>
        </p:nvSpPr>
        <p:spPr>
          <a:xfrm>
            <a:off x="16056000" y="7056000"/>
            <a:ext cx="12960000" cy="38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Sidi Bou Said: a coastal hillside near Tunis on clay-rich soils that lose cohesion when saturated, and already unstable before the storm.</a:t>
            </a: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Storm Harry (Jan 2026): about 300 mm in 48 h, the heaviest rain in 70+ years. Eight properties evacuated; Rue El Hadi Zarrouk and Avenue John Kennedy partly closed.</a:t>
            </a:r>
          </a:p>
        </p:txBody>
      </p:sp>
      <p:pic>
        <p:nvPicPr>
          <p:cNvPr id="305" name="CHIRPS rainfall chart" descr="Bar chart of daily CHIRPS rainfall at Sidi Bou Said, 1 Nov 2025 to 13 Feb 2026, with a peak around 19-25 January 20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0000" y="11304000"/>
            <a:ext cx="7920000" cy="3465606"/>
          </a:xfrm>
          <a:prstGeom prst="rect">
            <a:avLst/>
          </a:prstGeom>
        </p:spPr>
      </p:pic>
      <p:sp>
        <p:nvSpPr>
          <p:cNvPr id="306" name="Rain caption"/>
          <p:cNvSpPr txBox="1"/>
          <p:nvPr/>
        </p:nvSpPr>
        <p:spPr>
          <a:xfrm>
            <a:off x="16056000" y="14859606"/>
            <a:ext cx="1296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CHIRPS daily rainfall: Storm Harry peak, 3-day total 115 mm (21 Jan 2026)</a:t>
            </a:r>
          </a:p>
        </p:txBody>
      </p:sp>
      <p:sp>
        <p:nvSpPr>
          <p:cNvPr id="307" name="Method body"/>
          <p:cNvSpPr txBox="1"/>
          <p:nvPr/>
        </p:nvSpPr>
        <p:spPr>
          <a:xfrm>
            <a:off x="864000" y="17496000"/>
            <a:ext cx="12960000" cy="24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Labels built from NDVI change, slope screening and multi-date imagery: 155 positive and 77 negative points.</a:t>
            </a: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7 DEM terrain covariates feed Frequency Ratio + Random Forest; risk = susceptibility × proximity.</a:t>
            </a:r>
          </a:p>
        </p:txBody>
      </p:sp>
      <p:pic>
        <p:nvPicPr>
          <p:cNvPr id="308" name="Pipeline figure" descr="End-to-end pipeline from AOI construction to risk fus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000" y="20124000"/>
            <a:ext cx="10800000" cy="6165437"/>
          </a:xfrm>
          <a:prstGeom prst="rect">
            <a:avLst/>
          </a:prstGeom>
        </p:spPr>
      </p:pic>
      <p:sp>
        <p:nvSpPr>
          <p:cNvPr id="309" name="Stat tile 1"/>
          <p:cNvSpPr txBox="1"/>
          <p:nvPr/>
        </p:nvSpPr>
        <p:spPr>
          <a:xfrm>
            <a:off x="16056000" y="17496000"/>
            <a:ext cx="4176000" cy="2520000"/>
          </a:xfrm>
          <a:prstGeom prst="rect">
            <a:avLst/>
          </a:prstGeom>
          <a:solidFill>
            <a:srgbClr val="492368"/>
          </a:solidFill>
          <a:ln>
            <a:noFill/>
          </a:ln>
        </p:spPr>
        <p:txBody>
          <a:bodyPr wrap="square" lIns="126000" tIns="126000" rIns="126000" bIns="126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b="1" i="0" dirty="0">
                <a:solidFill>
                  <a:srgbClr val="FDC52D"/>
                </a:solidFill>
                <a:latin typeface="Titillium Web"/>
                <a:ea typeface="Titillium Web"/>
                <a:cs typeface="Titillium Web"/>
                <a:sym typeface="Titillium Web"/>
              </a:rPr>
              <a:t>0.958→0.884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Random Forest AUC: full model → no elevation</a:t>
            </a:r>
          </a:p>
        </p:txBody>
      </p:sp>
      <p:sp>
        <p:nvSpPr>
          <p:cNvPr id="310" name="Stat tile 2"/>
          <p:cNvSpPr txBox="1"/>
          <p:nvPr/>
        </p:nvSpPr>
        <p:spPr>
          <a:xfrm>
            <a:off x="20448000" y="17496000"/>
            <a:ext cx="4176000" cy="2520000"/>
          </a:xfrm>
          <a:prstGeom prst="rect">
            <a:avLst/>
          </a:prstGeom>
          <a:solidFill>
            <a:srgbClr val="492368"/>
          </a:solidFill>
          <a:ln>
            <a:noFill/>
          </a:ln>
        </p:spPr>
        <p:txBody>
          <a:bodyPr wrap="square" lIns="126000" tIns="126000" rIns="126000" bIns="126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b="1" i="0" dirty="0">
                <a:solidFill>
                  <a:srgbClr val="FDC52D"/>
                </a:solidFill>
                <a:latin typeface="Titillium Web"/>
                <a:ea typeface="Titillium Web"/>
                <a:cs typeface="Titillium Web"/>
                <a:sym typeface="Titillium Web"/>
              </a:rPr>
              <a:t>FR 1.41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Frequency Ratio, roughest TRI bin (steepest slope: 1.38)</a:t>
            </a:r>
          </a:p>
        </p:txBody>
      </p:sp>
      <p:sp>
        <p:nvSpPr>
          <p:cNvPr id="311" name="Stat tile 3"/>
          <p:cNvSpPr txBox="1"/>
          <p:nvPr/>
        </p:nvSpPr>
        <p:spPr>
          <a:xfrm>
            <a:off x="24840000" y="17496000"/>
            <a:ext cx="4176000" cy="2520000"/>
          </a:xfrm>
          <a:prstGeom prst="rect">
            <a:avLst/>
          </a:prstGeom>
          <a:solidFill>
            <a:srgbClr val="492368"/>
          </a:solidFill>
          <a:ln>
            <a:noFill/>
          </a:ln>
        </p:spPr>
        <p:txBody>
          <a:bodyPr wrap="square" lIns="126000" tIns="126000" rIns="126000" bIns="126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b="1" i="0" dirty="0">
                <a:solidFill>
                  <a:srgbClr val="FDC52D"/>
                </a:solidFill>
                <a:latin typeface="Titillium Web"/>
                <a:ea typeface="Titillium Web"/>
                <a:cs typeface="Titillium Web"/>
                <a:sym typeface="Titillium Web"/>
              </a:rPr>
              <a:t>3 drivers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Slope, TRI and aspect, confirmed by both independent methods</a:t>
            </a:r>
          </a:p>
        </p:txBody>
      </p:sp>
      <p:pic>
        <p:nvPicPr>
          <p:cNvPr id="312" name="Final risk map" descr="Final predicted per-building landslide risk map over the susceptibility raster, Sidi Bou Sai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30000" y="22104000"/>
            <a:ext cx="10980000" cy="7619125"/>
          </a:xfrm>
          <a:prstGeom prst="rect">
            <a:avLst/>
          </a:prstGeom>
        </p:spPr>
      </p:pic>
      <p:sp>
        <p:nvSpPr>
          <p:cNvPr id="313" name="Risk class title"/>
          <p:cNvSpPr txBox="1"/>
          <p:nvPr/>
        </p:nvSpPr>
        <p:spPr>
          <a:xfrm>
            <a:off x="16056000" y="29903125"/>
            <a:ext cx="12960000" cy="5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554 buildings scored and ranked in five Jenks risk classes</a:t>
            </a:r>
          </a:p>
        </p:txBody>
      </p:sp>
      <p:sp>
        <p:nvSpPr>
          <p:cNvPr id="314" name="Risk class Very Low"/>
          <p:cNvSpPr txBox="1"/>
          <p:nvPr/>
        </p:nvSpPr>
        <p:spPr>
          <a:xfrm>
            <a:off x="16056000" y="30515125"/>
            <a:ext cx="2484000" cy="1584000"/>
          </a:xfrm>
          <a:prstGeom prst="rect">
            <a:avLst/>
          </a:prstGeom>
          <a:solidFill>
            <a:srgbClr val="FCE4DE"/>
          </a:solidFill>
          <a:ln>
            <a:noFill/>
          </a:ln>
        </p:spPr>
        <p:txBody>
          <a:bodyPr wrap="square" lIns="72000" tIns="72000" rIns="72000" bIns="72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Very Low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0.000–0.069</a:t>
            </a:r>
          </a:p>
        </p:txBody>
      </p:sp>
      <p:sp>
        <p:nvSpPr>
          <p:cNvPr id="315" name="Risk class Low"/>
          <p:cNvSpPr txBox="1"/>
          <p:nvPr/>
        </p:nvSpPr>
        <p:spPr>
          <a:xfrm>
            <a:off x="18675000" y="30515125"/>
            <a:ext cx="2484000" cy="1584000"/>
          </a:xfrm>
          <a:prstGeom prst="rect">
            <a:avLst/>
          </a:prstGeom>
          <a:solidFill>
            <a:srgbClr val="F9B9A5"/>
          </a:solidFill>
          <a:ln>
            <a:noFill/>
          </a:ln>
        </p:spPr>
        <p:txBody>
          <a:bodyPr wrap="square" lIns="72000" tIns="72000" rIns="72000" bIns="72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Low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0.069–0.148</a:t>
            </a:r>
          </a:p>
        </p:txBody>
      </p:sp>
      <p:sp>
        <p:nvSpPr>
          <p:cNvPr id="316" name="Risk class Moderate"/>
          <p:cNvSpPr txBox="1"/>
          <p:nvPr/>
        </p:nvSpPr>
        <p:spPr>
          <a:xfrm>
            <a:off x="21294000" y="30515125"/>
            <a:ext cx="2484000" cy="1584000"/>
          </a:xfrm>
          <a:prstGeom prst="rect">
            <a:avLst/>
          </a:prstGeom>
          <a:solidFill>
            <a:srgbClr val="F08A73"/>
          </a:solidFill>
          <a:ln>
            <a:noFill/>
          </a:ln>
        </p:spPr>
        <p:txBody>
          <a:bodyPr wrap="square" lIns="72000" tIns="72000" rIns="72000" bIns="72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Moderate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0.148–0.246</a:t>
            </a:r>
          </a:p>
        </p:txBody>
      </p:sp>
      <p:sp>
        <p:nvSpPr>
          <p:cNvPr id="317" name="Risk class High"/>
          <p:cNvSpPr txBox="1"/>
          <p:nvPr/>
        </p:nvSpPr>
        <p:spPr>
          <a:xfrm>
            <a:off x="23913000" y="30515125"/>
            <a:ext cx="2484000" cy="1584000"/>
          </a:xfrm>
          <a:prstGeom prst="rect">
            <a:avLst/>
          </a:prstGeom>
          <a:solidFill>
            <a:srgbClr val="D7301F"/>
          </a:solidFill>
          <a:ln>
            <a:noFill/>
          </a:ln>
        </p:spPr>
        <p:txBody>
          <a:bodyPr wrap="square" lIns="72000" tIns="72000" rIns="72000" bIns="72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High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0.246–0.382</a:t>
            </a:r>
          </a:p>
        </p:txBody>
      </p:sp>
      <p:sp>
        <p:nvSpPr>
          <p:cNvPr id="318" name="Risk class Critical"/>
          <p:cNvSpPr txBox="1"/>
          <p:nvPr/>
        </p:nvSpPr>
        <p:spPr>
          <a:xfrm>
            <a:off x="26532000" y="30515125"/>
            <a:ext cx="2484000" cy="1584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txBody>
          <a:bodyPr wrap="square" lIns="72000" tIns="72000" rIns="72000" bIns="72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Critical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0.382–0.603</a:t>
            </a:r>
          </a:p>
        </p:txBody>
      </p:sp>
      <p:sp>
        <p:nvSpPr>
          <p:cNvPr id="319" name="Results body"/>
          <p:cNvSpPr txBox="1"/>
          <p:nvPr/>
        </p:nvSpPr>
        <p:spPr>
          <a:xfrm>
            <a:off x="16056000" y="32351125"/>
            <a:ext cx="12960000" cy="4728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Highest susceptibility lies along the coastal band, including Rue El Hadi Zarrouk and the southwestern slope.</a:t>
            </a: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Top-risk buildings cluster in the corridor closed and partly evacuated during Storm Harry.</a:t>
            </a: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Peak score 0.603; most others score below 0.2.</a:t>
            </a:r>
          </a:p>
        </p:txBody>
      </p:sp>
      <p:sp>
        <p:nvSpPr>
          <p:cNvPr id="320" name="Validation body"/>
          <p:cNvSpPr txBox="1"/>
          <p:nvPr/>
        </p:nvSpPr>
        <p:spPr>
          <a:xfrm>
            <a:off x="1080000" y="29160000"/>
            <a:ext cx="12960000" cy="50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400" b="1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Validation: </a:t>
            </a:r>
            <a:r>
              <a:rPr lang="en-US" sz="34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highest-risk buildings fall in the area actually closed and partly evacuated during Storm Harry, although the model never saw building locations.</a:t>
            </a: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400" b="1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Limitations: </a:t>
            </a:r>
            <a:r>
              <a:rPr lang="en-US" sz="34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single-event calibration; partly circular validation; coarse CHIRPS rainfall (~5.5 km); weak single-pair InSAR (coherence 0.44–0.47 vs 0.51 baseline); proxy-only vulnerability.</a:t>
            </a:r>
          </a:p>
        </p:txBody>
      </p:sp>
      <p:sp>
        <p:nvSpPr>
          <p:cNvPr id="321" name="Future body"/>
          <p:cNvSpPr txBox="1"/>
          <p:nvPr/>
        </p:nvSpPr>
        <p:spPr>
          <a:xfrm>
            <a:off x="1152000" y="36576000"/>
            <a:ext cx="12960000" cy="48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DC52D"/>
              </a:buClr>
              <a:buFont typeface="Wingdings" pitchFamily="2" charset="2"/>
              <a:buChar char="Ø"/>
            </a:pPr>
            <a:r>
              <a:rPr lang="en-US" sz="3400" b="0" i="0" dirty="0">
                <a:solidFill>
                  <a:srgbClr val="F8E6D0"/>
                </a:solidFill>
                <a:latin typeface="Titillium Web"/>
                <a:ea typeface="Titillium Web"/>
                <a:cs typeface="Titillium Web"/>
                <a:sym typeface="Titillium Web"/>
              </a:rPr>
              <a:t>Calibrate with multiple independent triggering events.</a:t>
            </a: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DC52D"/>
              </a:buClr>
              <a:buFont typeface="Wingdings" pitchFamily="2" charset="2"/>
              <a:buChar char="Ø"/>
            </a:pPr>
            <a:r>
              <a:rPr lang="en-US" sz="3400" b="0" i="0" dirty="0">
                <a:solidFill>
                  <a:srgbClr val="F8E6D0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Process a full multi-temporal SBAS / PSInSAR deformation time series.</a:t>
            </a: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DC52D"/>
              </a:buClr>
              <a:buFont typeface="Wingdings" pitchFamily="2" charset="2"/>
              <a:buChar char="Ø"/>
            </a:pPr>
            <a:r>
              <a:rPr lang="en-US" sz="3400" b="0" i="0" dirty="0">
                <a:solidFill>
                  <a:srgbClr val="F8E6D0"/>
                </a:solidFill>
                <a:latin typeface="Titillium Web"/>
                <a:ea typeface="Titillium Web"/>
                <a:cs typeface="Titillium Web"/>
                <a:sym typeface="Titillium Web"/>
              </a:rPr>
              <a:t>Replace proxies with real vulnerability data: construction type, occupancy, age.</a:t>
            </a: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DC52D"/>
              </a:buClr>
              <a:buFont typeface="Wingdings" pitchFamily="2" charset="2"/>
              <a:buChar char="Ø"/>
            </a:pPr>
            <a:r>
              <a:rPr lang="en-US" sz="3400" b="0" i="0" dirty="0">
                <a:solidFill>
                  <a:srgbClr val="F8E6D0"/>
                </a:solidFill>
                <a:latin typeface="Titillium Web"/>
                <a:ea typeface="Titillium Web"/>
                <a:cs typeface="Titillium Web"/>
                <a:sym typeface="Titillium Web"/>
              </a:rPr>
              <a:t>Extend the AOI to the whole village and surrounding hillside.</a:t>
            </a:r>
          </a:p>
        </p:txBody>
      </p:sp>
      <p:sp>
        <p:nvSpPr>
          <p:cNvPr id="322" name="Ack body"/>
          <p:cNvSpPr txBox="1"/>
          <p:nvPr/>
        </p:nvSpPr>
        <p:spPr>
          <a:xfrm>
            <a:off x="15732000" y="38880000"/>
            <a:ext cx="12888000" cy="25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000" b="0" i="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Association of Geospatial Intelligence (</a:t>
            </a:r>
            <a:r>
              <a:rPr lang="en-US" sz="3000" b="0" i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AGI)</a:t>
            </a:r>
            <a:endParaRPr lang="en-US" sz="3000" b="0" i="0" dirty="0">
              <a:solidFill>
                <a:srgbClr val="492368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571500" indent="-57150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492368"/>
              </a:buClr>
              <a:buFont typeface="Wingdings" pitchFamily="2" charset="2"/>
              <a:buChar char="Ø"/>
            </a:pPr>
            <a:r>
              <a:rPr lang="en-US" sz="3000" dirty="0" err="1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Manouba</a:t>
            </a:r>
            <a:r>
              <a:rPr lang="en-US" sz="3000" dirty="0">
                <a:solidFill>
                  <a:srgbClr val="492368"/>
                </a:solidFill>
                <a:latin typeface="Titillium Web"/>
                <a:ea typeface="Titillium Web"/>
                <a:cs typeface="Titillium Web"/>
                <a:sym typeface="Titillium Web"/>
              </a:rPr>
              <a:t> School of Engineering</a:t>
            </a:r>
            <a:endParaRPr lang="en-US" sz="3000" b="0" i="0" dirty="0">
              <a:solidFill>
                <a:srgbClr val="49236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474</Words>
  <Application>Microsoft Office PowerPoint</Application>
  <PresentationFormat>Personnalisé</PresentationFormat>
  <Paragraphs>48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Amaranth</vt:lpstr>
      <vt:lpstr>Titillium Web</vt:lpstr>
      <vt:lpstr>Arial</vt:lpstr>
      <vt:lpstr>Wingdings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Andrew</dc:creator>
  <cp:lastModifiedBy>zeineb sinini</cp:lastModifiedBy>
  <cp:revision>5</cp:revision>
  <dcterms:created xsi:type="dcterms:W3CDTF">2012-07-09T21:51:14Z</dcterms:created>
  <dcterms:modified xsi:type="dcterms:W3CDTF">2026-10-04T18:12:27Z</dcterms:modified>
</cp:coreProperties>
</file>